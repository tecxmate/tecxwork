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Calibri"/>
              </a:rPr>
              <a:t>Cumulative registrations · 4/17 → 6/6 (est.)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8C52FF"/>
            </a:solidFill>
            <a:ln w="38100" cap="flat">
              <a:solidFill>
                <a:srgbClr val="8C52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C52FF"/>
              </a:solidFill>
              <a:ln w="9525" cap="flat">
                <a:solidFill>
                  <a:srgbClr val="8C52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4/17</c:v>
                  </c:pt>
                  <c:pt idx="1">
                    <c:v>4/23</c:v>
                  </c:pt>
                  <c:pt idx="2">
                    <c:v>4/29</c:v>
                  </c:pt>
                  <c:pt idx="3">
                    <c:v>5/5</c:v>
                  </c:pt>
                  <c:pt idx="4">
                    <c:v>5/11</c:v>
                  </c:pt>
                  <c:pt idx="5">
                    <c:v>5/17</c:v>
                  </c:pt>
                  <c:pt idx="6">
                    <c:v>5/23</c:v>
                  </c:pt>
                  <c:pt idx="7">
                    <c:v>5/29</c:v>
                  </c:pt>
                  <c:pt idx="8">
                    <c:v>6/6 (est.)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14</c:v>
                </c:pt>
                <c:pt idx="5">
                  <c:v>28</c:v>
                </c:pt>
                <c:pt idx="6">
                  <c:v>60</c:v>
                </c:pt>
                <c:pt idx="7">
                  <c:v>93</c:v>
                </c:pt>
                <c:pt idx="8">
                  <c:v>900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Recruiters</c:v>
                </c:pt>
              </c:strCache>
            </c:strRef>
          </c:tx>
          <c:spPr>
            <a:solidFill>
              <a:srgbClr val="FF6B35"/>
            </a:solidFill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4/17</c:v>
                  </c:pt>
                  <c:pt idx="1">
                    <c:v>4/23</c:v>
                  </c:pt>
                  <c:pt idx="2">
                    <c:v>4/29</c:v>
                  </c:pt>
                  <c:pt idx="3">
                    <c:v>5/5</c:v>
                  </c:pt>
                  <c:pt idx="4">
                    <c:v>5/11</c:v>
                  </c:pt>
                  <c:pt idx="5">
                    <c:v>5/17</c:v>
                  </c:pt>
                  <c:pt idx="6">
                    <c:v>5/23</c:v>
                  </c:pt>
                  <c:pt idx="7">
                    <c:v>5/29</c:v>
                  </c:pt>
                  <c:pt idx="8">
                    <c:v>6/6 (est.)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7</c:v>
                </c:pt>
                <c:pt idx="4">
                  <c:v>12</c:v>
                </c:pt>
                <c:pt idx="5">
                  <c:v>18</c:v>
                </c:pt>
                <c:pt idx="6">
                  <c:v>26</c:v>
                </c:pt>
                <c:pt idx="7">
                  <c:v>34</c:v>
                </c:pt>
                <c:pt idx="8">
                  <c:v>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10058400" cy="10058400"/>
          </a:xfrm>
          <a:prstGeom prst="ellipse">
            <a:avLst/>
          </a:prstGeom>
          <a:solidFill>
            <a:srgbClr val="8C52F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743200"/>
            <a:ext cx="8229600" cy="822960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02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8C52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25880" y="502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TECXWORK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0" y="50292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E5D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502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2026 NTU AI Builders Challenge × Shark Tank Taiwan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 Bridge Between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Vietnam's youth &amp; Taiwan's future.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台越人才之橋  •  矽谷創業種子甄選競賽 2026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94360" y="4846320"/>
            <a:ext cx="2619756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E5D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937760"/>
            <a:ext cx="2619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39,695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4360" y="553212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students in TW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80644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在台越南學生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78708" y="4846320"/>
            <a:ext cx="2619756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E5D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8708" y="4937760"/>
            <a:ext cx="2619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40%→70%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378708" y="553212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target by 2030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8708" y="580644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政府2030留才目標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63056" y="4846320"/>
            <a:ext cx="2619756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E5D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4937760"/>
            <a:ext cx="2619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 / 34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63056" y="553212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/ recruiters live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580644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現有學生 / 企業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47404" y="4846320"/>
            <a:ext cx="2619756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E5D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47404" y="4937760"/>
            <a:ext cx="2619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947404" y="553212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V-GEN job fair (next week)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47404" y="580644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下週舉辦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Tecxmate Co., Ltd.  •  Ho Chi Minh × Taipei  •  May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408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8C52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i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故事的開始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i="1" dirty="0">
                <a:solidFill>
                  <a:srgbClr val="E5D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was one of
</a:t>
            </a:r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39,695.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Niko, CEO. Class of 2024.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005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Taiwan has a talent it can't keep.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1208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台灣留不住的人才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22860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Vietnamese students arrive every year — by far the largest international cohort, up 44% in a single year.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3154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4 in 10 stay to work after graduation. The government wants 7 in 10 by 2030.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4023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they leave? They never meet the right employers. Brokers charge USD 5,000+ in fees. Job platforms are Mandarin-only. Career fairs run for one day.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4892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 is the bilingual, AI-matched career operating system that closes that gap.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triple-squeeze, getting tighter every year.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三重壓力，逐年加劇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3657600" cy="4297680"/>
          </a:xfrm>
          <a:prstGeom prst="rect">
            <a:avLst/>
          </a:prstGeom>
          <a:solidFill>
            <a:srgbClr val="F5F0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0"/>
            <a:ext cx="3657600" cy="7315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Cliff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人口斷崖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−5M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9436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Taiwan's missing workforce by 2040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6.67M boomers retiring vs. just 1.6M young workers entering. The dependency ratio crosses 50% next year.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3657600" cy="4297680"/>
          </a:xfrm>
          <a:prstGeom prst="rect">
            <a:avLst/>
          </a:prstGeom>
          <a:solidFill>
            <a:srgbClr val="F5F0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828800"/>
            <a:ext cx="3657600" cy="73152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Inflow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395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人才湧入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8C5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+44%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452628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students YoY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39,695 in TW (2024-25). #1 source of international students. 76% are degree-seeking — career-track, not tourist-track.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657600" cy="4297680"/>
          </a:xfrm>
          <a:prstGeom prst="rect">
            <a:avLst/>
          </a:prstGeom>
          <a:solidFill>
            <a:srgbClr val="F5F0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1828800"/>
            <a:ext cx="36576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Gap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58200" y="2395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留才缺口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→ 70%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8458200" y="4297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Government's mandated stay-rate jump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58200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only 4 in 10 foreign grads stay. By 2030, 7 in 10 must — 210,000 retained graduates. The gap is policy. The execution is missing.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080760"/>
            <a:ext cx="12161520" cy="777240"/>
          </a:xfrm>
          <a:prstGeom prst="rect">
            <a:avLst/>
          </a:prstGeom>
          <a:solidFill>
            <a:srgbClr val="1408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080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doesn't work for Taiwan. The opportunity doesn't reach Vietnamese students.   數字告訴我們：兩邊都在流失。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now: the policy tailwinds finally line up.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天時：政策紅利全到位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8C52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7400" y="1938528"/>
            <a:ext cx="109728" cy="1097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8" name="Shape 6"/>
          <p:cNvSpPr/>
          <p:nvPr/>
        </p:nvSpPr>
        <p:spPr>
          <a:xfrm>
            <a:off x="2112264" y="2057400"/>
            <a:ext cx="0" cy="868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Southbound Policy launched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新南向政策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02082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formally targets Vietnam + 17 ASEAN/South Asia countries for trade, education, and talent ties.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8C52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57400" y="2852928"/>
            <a:ext cx="109728" cy="1097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5" name="Shape 13"/>
          <p:cNvSpPr/>
          <p:nvPr/>
        </p:nvSpPr>
        <p:spPr>
          <a:xfrm>
            <a:off x="2112264" y="2971800"/>
            <a:ext cx="0" cy="868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Program opens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產學攜手合作專班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93522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Education's flagship industrial-talent program — Vietnamese students get tuition subsidies + guaranteed industry tracks.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8C5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0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57400" y="3767328"/>
            <a:ext cx="109728" cy="1097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2" name="Shape 20"/>
          <p:cNvSpPr/>
          <p:nvPr/>
        </p:nvSpPr>
        <p:spPr>
          <a:xfrm>
            <a:off x="2112264" y="3886200"/>
            <a:ext cx="0" cy="868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520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cohort jumps 44%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越南學生暴增 44%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84962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27,883 to 39,695 in one year. Vietnam becomes the #1 source of international students in Taiwan.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43484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8C52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348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57400" y="4681728"/>
            <a:ext cx="109728" cy="1097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9" name="Shape 27"/>
          <p:cNvSpPr/>
          <p:nvPr/>
        </p:nvSpPr>
        <p:spPr>
          <a:xfrm>
            <a:off x="2112264" y="4800600"/>
            <a:ext cx="0" cy="868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Professionals Act amended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外國專業人才法修法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476402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broadened, residency rules eased, 2-year automatic work permit granted to all international graduates.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34924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349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057400" y="559612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2468880" y="5349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 + V-GEN TRIDENT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0392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我們的時刻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468880" y="567842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bilingual VN-TW career-fair platform launches. 6/6 event at NTU. The infrastructure to deliver on 2030 retention goal.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0"/>
            <a:ext cx="9144000" cy="9144000"/>
          </a:xfrm>
          <a:prstGeom prst="ellipse">
            <a:avLst/>
          </a:prstGeom>
          <a:solidFill>
            <a:srgbClr val="8C52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TECXWORK — a career operating system, not a job board.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不只是求職網，而是職涯作業系統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bilingual career platform built around career fairs — the only context where Vietnamese students and Taiwanese employers actually meet.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圍繞校園徵才打造，唯一讓越南學生與台灣雇主真正相遇的雙語平台。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120640" cy="1078992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83080"/>
            <a:ext cx="91440" cy="1078992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EVENT-NATIVE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1305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活動原生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238658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career fairs. Booking, slots, CVs, QR check-in — production-grade for 1,000 concurrent users.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026664"/>
            <a:ext cx="5120640" cy="1078992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3026664"/>
            <a:ext cx="91440" cy="1078992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118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BILINGUAL-FIRST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33741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雙語先行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36301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in Vietnamese, Traditional Chinese, and English. Students never get stuck. Employers never get translation.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4270248"/>
            <a:ext cx="5120640" cy="1078992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270248"/>
            <a:ext cx="91440" cy="1078992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3616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PIPA / PDPA SAFE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46177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合法安規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4873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Explicit-targeted Drive-share model. Built for Taiwan's Personal Data Protection Act from day one.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5513832"/>
            <a:ext cx="5120640" cy="1078992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5513832"/>
            <a:ext cx="91440" cy="10789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5605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AI-MATCHED (next)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58613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智能配對 (下階段)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61173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+ language + visa-track matching. Pitched today, shipped in Q3 2026 with funding from this round.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3 steps to first interview.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三步完成首場面試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0"/>
            <a:ext cx="3657600" cy="1463040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87452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542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· Apply · QR-check-in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416052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100+ live jobs in VN / 繁中 / 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apply with Drive-shared CV (PIPA compliant)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QR at the door — recruiter sees your profile instantly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828800"/>
            <a:ext cx="3657600" cy="1463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965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580644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542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雇主端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· Schedule · Interview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416052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 in 3 minutes — domain-allowlisted auth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interview slots; system handles double-booking atomically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CVs only via explicit Drive-share to corporate email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18288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1828800"/>
            <a:ext cx="3657600" cy="1463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965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73836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38360" y="2542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主辦方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· Monitor · Export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58200" y="416052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branding + capacity + timeframes in admin dashboard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on registrations, bookings, email quota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event-day data export + PIPA-compliant purge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 production. Used in the wild.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已上線運行・正式營運中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132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5DAFF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7132320" cy="411480"/>
          </a:xfrm>
          <a:prstGeom prst="rect">
            <a:avLst/>
          </a:prstGeom>
          <a:solidFill>
            <a:srgbClr val="F3F0F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7510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97510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975104"/>
            <a:ext cx="118872" cy="118872"/>
          </a:xfrm>
          <a:prstGeom prst="ellipse">
            <a:avLst/>
          </a:prstGeom>
          <a:solidFill>
            <a:srgbClr val="27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tecxwork.com/admin/event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5/29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5F0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5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/ 405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utilization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7432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5F0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/ 88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0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interviews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36118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5F0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 / 100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56032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quota today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6118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5F0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 : 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Recruiter:Student ratio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(cumulative)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5861304"/>
            <a:ext cx="548640" cy="36576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08760" y="5836920"/>
            <a:ext cx="548640" cy="60960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103120" y="5800344"/>
            <a:ext cx="548640" cy="97536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97480" y="5775960"/>
            <a:ext cx="548640" cy="121920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5751576"/>
            <a:ext cx="548640" cy="146304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886200" y="5678424"/>
            <a:ext cx="548640" cy="219456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0560" y="5532120"/>
            <a:ext cx="548640" cy="365760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74920" y="5227320"/>
            <a:ext cx="548640" cy="670560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0" y="4983480"/>
            <a:ext cx="548640" cy="914400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63640" y="4800600"/>
            <a:ext cx="548640" cy="1097280"/>
          </a:xfrm>
          <a:prstGeom prst="rect">
            <a:avLst/>
          </a:prstGeom>
          <a:solidFill>
            <a:srgbClr val="8C52FF">
              <a:alpha val="7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38160" y="2194560"/>
            <a:ext cx="54864" cy="640080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0" y="2194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students registered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50976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越南學生已註冊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2971800"/>
            <a:ext cx="54864" cy="640080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2971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5097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employer accounts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50976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台灣企業已加入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3749040"/>
            <a:ext cx="54864" cy="640080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45" name="Text 43"/>
          <p:cNvSpPr/>
          <p:nvPr/>
        </p:nvSpPr>
        <p:spPr>
          <a:xfrm>
            <a:off x="83210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50976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 posts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50976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正在招募職缺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38160" y="4526280"/>
            <a:ext cx="54864" cy="640080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49" name="Text 47"/>
          <p:cNvSpPr/>
          <p:nvPr/>
        </p:nvSpPr>
        <p:spPr>
          <a:xfrm>
            <a:off x="8321040" y="4526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/ 88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50976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requests accepted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50976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面試請求已接受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38160" y="5303520"/>
            <a:ext cx="54864" cy="640080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53035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1,000+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509760" y="5303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interactions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509760" y="5623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互動數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weeks. Zero ads. The spike is just starting.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六週・零廣告・才剛起飛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657600" cy="1417320"/>
          </a:xfrm>
          <a:prstGeom prst="rect">
            <a:avLst/>
          </a:prstGeom>
          <a:solidFill>
            <a:srgbClr val="F5F0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3657600" cy="73152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8C5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→ 93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42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657600" cy="1417320"/>
          </a:xfrm>
          <a:prstGeom prst="rect">
            <a:avLst/>
          </a:prstGeom>
          <a:solidFill>
            <a:srgbClr val="F5F0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737360"/>
            <a:ext cx="3657600" cy="7315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→ 100+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34 employers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657600" cy="1417320"/>
          </a:xfrm>
          <a:prstGeom prst="rect">
            <a:avLst/>
          </a:prstGeom>
          <a:solidFill>
            <a:srgbClr val="F5F0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737360"/>
            <a:ext cx="36576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50392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at job fair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V-GEN TRIDENT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0080" y="3383280"/>
          <a:ext cx="7772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68680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WORKING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686800" y="374904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0"/>
          <p:cNvSpPr/>
          <p:nvPr/>
        </p:nvSpPr>
        <p:spPr>
          <a:xfrm>
            <a:off x="882396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 Taiwan MOU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82396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distribution into every VN-student org in Taiwan.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686800" y="461772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88239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Bilingual-first UX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823960" y="4892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only Mandarin+Vietnamese career UI students can actually use.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686800" y="548640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6"/>
          <p:cNvSpPr/>
          <p:nvPr/>
        </p:nvSpPr>
        <p:spPr>
          <a:xfrm>
            <a:off x="8823960" y="5486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823960" y="5760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FB interactions, zero paid acquisition to date.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8C52FF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companies already trust us.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他們已經選擇我們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V-GEN TRIDENT 2026 · NTU · June 6 — first VN-TW career fair on the platform.   首屆台越校園徵才博覽會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Foxconn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鴻海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26060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LITE-ON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83480" y="26060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26060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Tripod Tech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健鼎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646920" y="26060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692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Gtalent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469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全球人才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4692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114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CHINLI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004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錦麗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5102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51760" y="4114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SSB Industrial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65176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51760" y="5102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4114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Mdor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8348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5102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0" y="4114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Viet Hoa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1520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越華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5102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646920" y="41148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4692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Yong Zhan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64692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永展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46920" y="5102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MOU with VSA Taiwan — exclusive talent pipeline into 40,000 Vietnamese students.   與越南學生會獨家合作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built with AI. Tomorrow: powered by AI.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今日由 AI 打造・明日由 AI 驅動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solidFill>
            <a:srgbClr val="F5F0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現在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built the platform.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218688"/>
            <a:ext cx="164592" cy="164592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shipped in 6 weeks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410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by CTO with Claude Code + Cursor. ~25K LOC, production-grade.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767328"/>
            <a:ext cx="164592" cy="164592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copy translated by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959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Vietnamese / 繁中 / English without a translation budget.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315968"/>
            <a:ext cx="164592" cy="164592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design system generated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507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colors, hero photos, marketing reels — all AI-generated assets.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4864608"/>
            <a:ext cx="164592" cy="164592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docs drafted by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056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policy, terms of service, MOU — reviewed by counsel.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737360"/>
            <a:ext cx="5486400" cy="4389120"/>
          </a:xfrm>
          <a:prstGeom prst="rect">
            <a:avLst/>
          </a:prstGeom>
          <a:solidFill>
            <a:srgbClr val="14082A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737360"/>
            <a:ext cx="54864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下一步 ◢ Q3 2026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will run the platform.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492240" y="321868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Engine v1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410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× language × visa-track × salary fit. Ranked match score on every booking.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376732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↔ Mandarin interview coach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959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practice with role-specific question banks + AI feedback in your language.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431596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bilingual CV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4507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 VN CV → AI outputs 繁中 + EN versions in TW-employer format.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486460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copilot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5056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interview questions, screens CVs, schedules — all in employer's native language.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$5B corridor — and we own its onboarding ramp.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50 億的走廊・我們守住入口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4389120" cy="4389120"/>
          </a:xfrm>
          <a:prstGeom prst="ellipse">
            <a:avLst/>
          </a:prstGeom>
          <a:solidFill>
            <a:srgbClr val="E5DAFF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560320"/>
            <a:ext cx="3291840" cy="3291840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3108960"/>
            <a:ext cx="2194560" cy="219456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3657600"/>
            <a:ext cx="1097280" cy="10972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91440" cy="13716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可服務市場總額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5.2B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54203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placement-fee value across the full VN→TW labour corridor. 829K migrant workers × avg USD 6,200 broker fee.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383280"/>
            <a:ext cx="91440" cy="1371600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383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可服務市場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480M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75120" y="40965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new-grad placement market. 40K VN students + 16K annual grads × USD 12K avg first-year placement value × 12% fee.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4937760"/>
            <a:ext cx="91440" cy="1371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937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可獲得市場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0" y="4937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2M (Y3)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675120" y="565099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 target — 6 career fairs / year × 10 universities × 1,500 placements × 8% placement fee. Defensible from event ownership.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revenue streams. One operating system.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兩個營收引擎・一個作業系統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pay when we deliver hires. Organizers pay for the operating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577840" cy="4206240"/>
          </a:xfrm>
          <a:prstGeom prst="rect">
            <a:avLst/>
          </a:prstGeom>
          <a:solidFill>
            <a:srgbClr val="F5F0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5577840" cy="73152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主要營收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placement fee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雇主錄取分潤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8C5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— 12%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first-year salary per successful hire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TW entry salary NT$540K → fee NT$43K – NT$65K per hire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only on signed offer + 90-day retention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the USD 5,000+ broker fees students pay today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240280"/>
            <a:ext cx="55778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240280"/>
            <a:ext cx="5577840" cy="7315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070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次要營收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Event-OS SaaS license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校園徵才作業系統授權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657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NT$80K – NT$300K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76656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career-fair event (organizer / university)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4937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white-label after Q4 2026 — sold to TW universities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fee + premium tier (analytics, branding, comms)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60-75% of current product (already-built per PRD)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win: the only player in the corner that matters.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致勝象限：沒人佔據的關鍵角落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858000" cy="4206240"/>
          </a:xfrm>
          <a:prstGeom prst="rect">
            <a:avLst/>
          </a:prstGeom>
          <a:solidFill>
            <a:srgbClr val="F5F0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1960" y="1828800"/>
            <a:ext cx="0" cy="42062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931920"/>
            <a:ext cx="6858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361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Event-native  ↑  徵才活動原生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Pure job board  ·  純求職網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Generalist  通用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0" y="3794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VN-TW niche  越台專精  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43100" y="5152644"/>
            <a:ext cx="502920" cy="502920"/>
          </a:xfrm>
          <a:prstGeom prst="ellipse">
            <a:avLst/>
          </a:prstGeom>
          <a:solidFill>
            <a:srgbClr val="6B7280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11580" y="57012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25880" y="4926787"/>
            <a:ext cx="365760" cy="365760"/>
          </a:xfrm>
          <a:prstGeom prst="ellipse">
            <a:avLst/>
          </a:prstGeom>
          <a:solidFill>
            <a:srgbClr val="6B7280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533826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0" y="4777740"/>
            <a:ext cx="411480" cy="411480"/>
          </a:xfrm>
          <a:prstGeom prst="ellipse">
            <a:avLst/>
          </a:prstGeom>
          <a:solidFill>
            <a:srgbClr val="6B7280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349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4567428"/>
            <a:ext cx="411480" cy="411480"/>
          </a:xfrm>
          <a:prstGeom prst="ellipse">
            <a:avLst/>
          </a:prstGeom>
          <a:solidFill>
            <a:srgbClr val="6B7280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50246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CakeResume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11980" y="4169664"/>
            <a:ext cx="365760" cy="365760"/>
          </a:xfrm>
          <a:prstGeom prst="ellipse">
            <a:avLst/>
          </a:prstGeom>
          <a:solidFill>
            <a:srgbClr val="6B728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80460" y="4581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Gtalent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26180" y="2907792"/>
            <a:ext cx="365760" cy="365760"/>
          </a:xfrm>
          <a:prstGeom prst="ellipse">
            <a:avLst/>
          </a:prstGeom>
          <a:solidFill>
            <a:srgbClr val="6B7280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994660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Career-fair brokers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75020" y="2456993"/>
            <a:ext cx="594360" cy="59436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3500" y="309707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381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DIFFERENTLY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2240280"/>
            <a:ext cx="201168" cy="201168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240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30768" y="219456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30768" y="2487168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+ 繁中 + EN — others are 繁中 only or EN only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017520"/>
            <a:ext cx="201168" cy="201168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30768" y="297180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Event-native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30768" y="3264408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career fairs, not generic job posts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38160" y="3794760"/>
            <a:ext cx="201168" cy="201168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36" name="Text 34"/>
          <p:cNvSpPr/>
          <p:nvPr/>
        </p:nvSpPr>
        <p:spPr>
          <a:xfrm>
            <a:off x="8138160" y="3794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30768" y="37490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PIPA-safe by design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30768" y="4041648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Drive-share model, zero PII stored in DB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4572000"/>
            <a:ext cx="201168" cy="201168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572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30768" y="45262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 partnership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30768" y="4818888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pipeline into all VN-student orgs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38160" y="5349240"/>
            <a:ext cx="201168" cy="201168"/>
          </a:xfrm>
          <a:prstGeom prst="ellipse">
            <a:avLst/>
          </a:prstGeom>
          <a:solidFill>
            <a:srgbClr val="8C52FF"/>
          </a:solidFill>
          <a:ln/>
        </p:spPr>
      </p:sp>
      <p:sp>
        <p:nvSpPr>
          <p:cNvPr id="44" name="Text 42"/>
          <p:cNvSpPr/>
          <p:nvPr/>
        </p:nvSpPr>
        <p:spPr>
          <a:xfrm>
            <a:off x="8138160" y="5349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30768" y="53035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fee than brokers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30768" y="5596128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8-12% placement vs USD 5K+ upfront broker fees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7315200" cy="7315200"/>
          </a:xfrm>
          <a:prstGeom prst="ellipse">
            <a:avLst/>
          </a:prstGeom>
          <a:solidFill>
            <a:srgbClr val="8C52F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founders. Two countries. One mission.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三位創辦人・橫跨台越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657600" cy="420624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148840"/>
            <a:ext cx="1463040" cy="1463040"/>
          </a:xfrm>
          <a:prstGeom prst="ellipse">
            <a:avLst/>
          </a:prstGeom>
          <a:solidFill>
            <a:srgbClr val="8C52FF"/>
          </a:solidFill>
          <a:ln w="19050">
            <a:solidFill>
              <a:srgbClr val="E5D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Nikolas Doan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段皇方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CFO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7091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student in Taiwan. Lived the problem. Drove the VSA partnership. Holds product, brand, and stakeholder relationships.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VN-TW founder · VSA Taiwan MOU · Capital + go-to-market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828800"/>
            <a:ext cx="3657600" cy="420624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2148840"/>
            <a:ext cx="1463040" cy="1463040"/>
          </a:xfrm>
          <a:prstGeom prst="ellipse">
            <a:avLst/>
          </a:prstGeom>
          <a:solidFill>
            <a:srgbClr val="8C52FF"/>
          </a:solidFill>
          <a:ln w="19050">
            <a:solidFill>
              <a:srgbClr val="E5D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3484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Nguyen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484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阮文貴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47091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platform solo in 6 weeks. Next.js + Postgres + AI-tooling fluency. Owns architecture, engineering, and ops.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 · AI-native developer · Scaled the 6/6 event infra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38160" y="1828800"/>
            <a:ext cx="3657600" cy="4206240"/>
          </a:xfrm>
          <a:prstGeom prst="rect">
            <a:avLst/>
          </a:prstGeom>
          <a:solidFill>
            <a:srgbClr val="FFFFFF">
              <a:alpha val="8000"/>
            </a:srgbClr>
          </a:solidFill>
          <a:ln w="5080">
            <a:solidFill>
              <a:srgbClr val="E5DA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2148840"/>
            <a:ext cx="1463040" cy="1463040"/>
          </a:xfrm>
          <a:prstGeom prst="ellipse">
            <a:avLst/>
          </a:prstGeom>
          <a:solidFill>
            <a:srgbClr val="8C52FF"/>
          </a:solidFill>
          <a:ln w="19050">
            <a:solidFill>
              <a:srgbClr val="E5D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32104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Lynn 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2104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謝宛伶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6760" y="47091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Taiwanese PM. Coordinates recruiter onboarding, event ops, and stakeholder comms in 繁中. The bridge to TW enterprise.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native · Enterprise recruiter ops · On-the-ground at events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Design by Tecxmate Co., Ltd. — Vietnamese R&amp;D entity, HCMC.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12-month roadmap, post-funding.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個月路線圖（募資後）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7830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783080"/>
            <a:ext cx="3657600" cy="9144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 + license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成立合法主體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Tecxmate Taiwan Co. (Sibling LLC structure)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Private Employment Services Institution license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1 Certified Employment Service Professional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injection NT$500K (MOEA minimum)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7830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783080"/>
            <a:ext cx="3657600" cy="914400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Engine v1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配對引擎上線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32461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× language × visa-track scoring model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AI CV generator (VN → 繁中 + EN)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copilot (interview Qs, screening)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org/event scoping (PRD Phase 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17830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783080"/>
            <a:ext cx="3657600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4 events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5820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拓展至 4 場活動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32461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V-GEN expansion: NTU + NCCU + NTHU + NCKU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students × 200 employers per cycle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 placement-fee revenue events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targeting USD 3-5M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3657600"/>
            <a:ext cx="10972800" cy="10972800"/>
          </a:xfrm>
          <a:prstGeom prst="ellipse">
            <a:avLst/>
          </a:prstGeom>
          <a:solidFill>
            <a:srgbClr val="8C52F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22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我們的請求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E5D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54864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NTU AI BUILDERS CHALLENGE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台大創新創業學程 · 矽谷沉浸學習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us the 7-week Silicon Valley seat.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794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product. Real users. Government-aligned mission.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there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45720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AI matching model with US-based Asian-talent investors and engineers.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349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back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53492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bilingual VN-TW alumnus pipeline for the next cohort. The corridor only widens from here.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E5DA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783080"/>
            <a:ext cx="5486400" cy="73152"/>
          </a:xfrm>
          <a:prstGeom prst="rect">
            <a:avLst/>
          </a:prstGeom>
          <a:solidFill>
            <a:srgbClr val="8C52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SHARK TANK TAIWAN INVESTORS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台灣鯊魚幫 · 種子輪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NT$8M</a:t>
            </a:r>
            <a:pPr indent="0" marL="0">
              <a:buNone/>
            </a:pPr>
            <a:r>
              <a:rPr lang="en-US" sz="3600" i="1" dirty="0">
                <a:solidFill>
                  <a:srgbClr val="E5D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for  </a:t>
            </a:r>
            <a:pPr indent="0" marL="0">
              <a:buNone/>
            </a:pPr>
            <a:r>
              <a:rPr lang="en-US" sz="3600" b="1" i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(NT$72M post-money · ~USD $260K @ NT$80M post-money cap)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 ·  資金用途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4251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entity + Employment Services license + Certified Professional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4636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engine v1 + bilingual CV generator (Q3-Q4 2026)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50200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50200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+ 3 additional university job-fair events (Q1 2027)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54041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5404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&amp; compliance (PDPA, audit)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0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0" y="-3657600"/>
            <a:ext cx="12801600" cy="12801600"/>
          </a:xfrm>
          <a:prstGeom prst="ellipse">
            <a:avLst/>
          </a:prstGeom>
          <a:solidFill>
            <a:srgbClr val="8C52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743200"/>
            <a:ext cx="9144000" cy="914400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8C52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280160" y="502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TECXWORK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Vietnam's youth.</a:t>
            </a:r>
            <a:endParaRPr lang="en-US" sz="6000" dirty="0"/>
          </a:p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Taiwan's future.</a:t>
            </a:r>
            <a:endParaRPr lang="en-US" sz="6000" dirty="0"/>
          </a:p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bilingual bridge.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越南的青年・台灣的未來・一座雙語之橋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897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Nikolas Doan · CEO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niko@tecxwork.com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5897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6172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tecxwork.com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V-GEN TRIDENT · 6/6 · NTU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0" y="5897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0" y="6172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Tecxmate Co., Ltd.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 Taiwan (MOU)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Tecxmate Company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TECXWORK — VN→TW Talent Bridge</dc:title>
  <dc:subject>PptxGenJS Presentation</dc:subject>
  <dc:creator>TECXWORK</dc:creator>
  <cp:lastModifiedBy>TECXWORK</cp:lastModifiedBy>
  <cp:revision>1</cp:revision>
  <dcterms:created xsi:type="dcterms:W3CDTF">2026-05-29T10:09:37Z</dcterms:created>
  <dcterms:modified xsi:type="dcterms:W3CDTF">2026-05-29T10:09:37Z</dcterms:modified>
</cp:coreProperties>
</file>